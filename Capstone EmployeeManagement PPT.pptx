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60" r:id="rId2"/>
    <p:sldId id="4421" r:id="rId3"/>
    <p:sldId id="4422" r:id="rId4"/>
    <p:sldId id="4423" r:id="rId5"/>
    <p:sldId id="4424" r:id="rId6"/>
    <p:sldId id="4425" r:id="rId7"/>
    <p:sldId id="4426" r:id="rId8"/>
    <p:sldId id="4427" r:id="rId9"/>
    <p:sldId id="4428" r:id="rId10"/>
    <p:sldId id="4429" r:id="rId11"/>
    <p:sldId id="4430" r:id="rId12"/>
    <p:sldId id="4431" r:id="rId13"/>
    <p:sldId id="4432" r:id="rId14"/>
    <p:sldId id="4433" r:id="rId15"/>
    <p:sldId id="4434" r:id="rId16"/>
    <p:sldId id="4435" r:id="rId17"/>
    <p:sldId id="4436" r:id="rId18"/>
    <p:sldId id="4437" r:id="rId19"/>
    <p:sldId id="4438" r:id="rId20"/>
    <p:sldId id="4439" r:id="rId21"/>
    <p:sldId id="4440" r:id="rId22"/>
    <p:sldId id="4441" r:id="rId23"/>
    <p:sldId id="4444" r:id="rId24"/>
    <p:sldId id="4442" r:id="rId25"/>
    <p:sldId id="4443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87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eekshith Dasa" userId="15e65d655f45a773" providerId="LiveId" clId="{0DBDF50C-8242-4776-90A5-C987932CF1E9}"/>
    <pc:docChg chg="custSel addSld modSld">
      <pc:chgData name="Deekshith Dasa" userId="15e65d655f45a773" providerId="LiveId" clId="{0DBDF50C-8242-4776-90A5-C987932CF1E9}" dt="2026-02-10T05:48:33.983" v="54" actId="1076"/>
      <pc:docMkLst>
        <pc:docMk/>
      </pc:docMkLst>
      <pc:sldChg chg="addSp delSp modSp mod">
        <pc:chgData name="Deekshith Dasa" userId="15e65d655f45a773" providerId="LiveId" clId="{0DBDF50C-8242-4776-90A5-C987932CF1E9}" dt="2026-02-10T05:48:33.983" v="54" actId="1076"/>
        <pc:sldMkLst>
          <pc:docMk/>
          <pc:sldMk cId="1904965663" sldId="4442"/>
        </pc:sldMkLst>
        <pc:picChg chg="del">
          <ac:chgData name="Deekshith Dasa" userId="15e65d655f45a773" providerId="LiveId" clId="{0DBDF50C-8242-4776-90A5-C987932CF1E9}" dt="2026-02-10T05:48:23.711" v="50" actId="478"/>
          <ac:picMkLst>
            <pc:docMk/>
            <pc:sldMk cId="1904965663" sldId="4442"/>
            <ac:picMk id="7" creationId="{D949A491-7DD8-7A13-B3A9-EA23DA05FEC8}"/>
          </ac:picMkLst>
        </pc:picChg>
        <pc:picChg chg="add mod">
          <ac:chgData name="Deekshith Dasa" userId="15e65d655f45a773" providerId="LiveId" clId="{0DBDF50C-8242-4776-90A5-C987932CF1E9}" dt="2026-02-10T05:48:33.983" v="54" actId="1076"/>
          <ac:picMkLst>
            <pc:docMk/>
            <pc:sldMk cId="1904965663" sldId="4442"/>
            <ac:picMk id="8" creationId="{8DC43394-A194-61DF-A934-97858260A623}"/>
          </ac:picMkLst>
        </pc:picChg>
      </pc:sldChg>
      <pc:sldChg chg="addSp delSp modSp add mod">
        <pc:chgData name="Deekshith Dasa" userId="15e65d655f45a773" providerId="LiveId" clId="{0DBDF50C-8242-4776-90A5-C987932CF1E9}" dt="2026-02-10T05:47:33.234" v="49" actId="1076"/>
        <pc:sldMkLst>
          <pc:docMk/>
          <pc:sldMk cId="1866594961" sldId="4444"/>
        </pc:sldMkLst>
        <pc:spChg chg="mod">
          <ac:chgData name="Deekshith Dasa" userId="15e65d655f45a773" providerId="LiveId" clId="{0DBDF50C-8242-4776-90A5-C987932CF1E9}" dt="2026-02-10T05:44:56.288" v="43" actId="20577"/>
          <ac:spMkLst>
            <pc:docMk/>
            <pc:sldMk cId="1866594961" sldId="4444"/>
            <ac:spMk id="4" creationId="{4A35C22A-7A21-FCCC-0834-8C2A4B3A95E0}"/>
          </ac:spMkLst>
        </pc:spChg>
        <pc:picChg chg="add mod">
          <ac:chgData name="Deekshith Dasa" userId="15e65d655f45a773" providerId="LiveId" clId="{0DBDF50C-8242-4776-90A5-C987932CF1E9}" dt="2026-02-10T05:47:33.234" v="49" actId="1076"/>
          <ac:picMkLst>
            <pc:docMk/>
            <pc:sldMk cId="1866594961" sldId="4444"/>
            <ac:picMk id="7" creationId="{F98F8CE0-66A4-29DF-3320-EAB37690F7BC}"/>
          </ac:picMkLst>
        </pc:picChg>
        <pc:picChg chg="del">
          <ac:chgData name="Deekshith Dasa" userId="15e65d655f45a773" providerId="LiveId" clId="{0DBDF50C-8242-4776-90A5-C987932CF1E9}" dt="2026-02-10T05:45:54.105" v="44" actId="478"/>
          <ac:picMkLst>
            <pc:docMk/>
            <pc:sldMk cId="1866594961" sldId="4444"/>
            <ac:picMk id="8" creationId="{757838C6-31FF-0EBA-C62A-FEEBB0C816C6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F83ABB-A641-41B3-815B-0BF716117969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464667-E269-4945-B7C0-AD99F8954A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8914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2225B-E41B-77C0-1A23-7FE91583AB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A84B7F-BF54-53DE-5ED7-2CDED8A4B9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18E42-7938-EBF6-0BBB-C03E98259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74C66D-7C77-1BC2-E297-5581F607B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C71FE2-01D7-8CFA-F772-2A12DADA9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9764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69414-E7DE-B18D-3123-DBD0283DA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9AEC70-B92A-CC7C-576E-A961A566DF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40CFBF-3986-2ECA-DC6E-B0EB5EEAE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5622A7-D018-3314-6712-AC0A3E326F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DF858B-9E65-33C3-1330-DDC559B7F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143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99EF2-BE12-339C-53A6-D7F37ED5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5EA9B6-8FA8-149E-9646-FB301CFB14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325791-C68A-6622-2CC5-3C0B28333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7CB1C5-90B9-0823-9015-AF5F09CF9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9B8B6-BAA6-240F-60BE-518B08A68F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1014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E3121-A2A6-067F-9BB5-431330CD0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B61458-6F42-1FC6-02A5-B26BB0448D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0A9E45-D816-7EFD-3CAA-178E16FA00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34DE17-8AF8-1452-3C2B-1E8AC11C0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F04EE6-8A95-F57F-A192-3DE3AA413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37B0C8-4507-0579-A941-6A255E92B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883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D41E2-A077-4FE6-C0D3-E53AD7692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8D9F13-A5D4-37A3-1493-299424981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5EE514-EB19-276A-D5A5-AD3B452852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4ECFBA-4BCE-DB10-1A82-A2D64F058E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FB50E7-10C2-3309-2CDC-0F66334ED7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1554FF-26AD-988B-1BE6-17295ED2C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2EB7DB9-3BFA-EEC0-380B-FF6C9131A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B18BED0-2F21-3460-79B8-7290A76A4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0784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70D88-D9A6-E2BA-4D07-31B2E1E8C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9C88D8-4119-A0E3-1E19-520074B60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BD6728-10D0-DD4F-070F-D8887DC407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1F0AF4-0EB8-E3C6-BC9D-0F225B0D6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9138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6305AF-CB28-6234-0989-07022337F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5B88D4-A6C0-E1B7-8994-A86076DAC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2BBE91-403E-73E0-6DB4-5910441B7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6809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51ACB-DC8B-620D-E3BF-7FA852E0A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C1B764-533F-1B5D-0611-138F699344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B5571B-161E-E09A-5698-4A40CFD312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D211E9-C5AE-278A-0394-D5A3F4277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7A9B3E-94F2-61BE-DDC5-42C051384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552E40-E8E1-BD3E-81E3-532D7B29B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4003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F0294-46E3-230A-33FB-B650A56B8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2C59121-E297-856F-8ED2-F9B862BEEC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44B73E-5B9E-91E2-5353-C491A0CF95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24E462-7BB8-F752-941C-B91D00225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C8DAB4-C59B-C493-7D76-5E1C91DA55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1DC2E0-CCB3-2997-598A-4720CC284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1037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779BFA-EF8F-EA09-32AE-D64B8AE7D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6459FB-C2B4-23D4-5E49-19DBA37F4E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F53C33-E5A3-B4F5-E8BF-0885DE881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B3BEFD-E011-F7CA-9B31-F27B73919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199C5A-F8B7-9E90-F8CD-0F9D22014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137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C63739-7054-0E76-0B25-A01771D40C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38EBE8-732F-CBA6-F8BB-30CF1BAE2D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9432A-8B6F-76F0-0D7B-30A66B962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C86BF-26DF-47F2-BBA6-FB99F1E1025C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C8D616-BCA7-5689-02D1-3CA3EA884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983D8B-7730-9BA0-75AA-DC12AF5D0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253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CBEEC88-9CA5-4612-35B7-82E0244A7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ADCC53-C329-CE13-38A1-EB94C1E16C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D1CA58-D0E5-D20E-2F11-B1014BAA02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6C86BF-26DF-47F2-BBA6-FB99F1E1025C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54645D-A023-304B-CF92-E94304A16A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E39631-FBA3-5F80-C564-B320E69D3D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F35010-364B-470B-BB6C-DCBBE63D2E5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09B860-F767-CF44-CE1F-64E3F076B1FC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78488" y="6672580"/>
            <a:ext cx="855662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General - RPS Data</a:t>
            </a:r>
          </a:p>
        </p:txBody>
      </p:sp>
    </p:spTree>
    <p:extLst>
      <p:ext uri="{BB962C8B-B14F-4D97-AF65-F5344CB8AC3E}">
        <p14:creationId xmlns:p14="http://schemas.microsoft.com/office/powerpoint/2010/main" val="34116530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87C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2"/>
          <a:srcRect l="1" r="-387" b="18588"/>
          <a:stretch/>
        </p:blipFill>
        <p:spPr>
          <a:xfrm>
            <a:off x="366227" y="237669"/>
            <a:ext cx="1212311" cy="788699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366227" y="1503753"/>
            <a:ext cx="11555519" cy="9988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425"/>
              </a:lnSpc>
              <a:spcBef>
                <a:spcPct val="0"/>
              </a:spcBef>
            </a:pPr>
            <a:r>
              <a:rPr lang="en-US" sz="28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WIPRO NGA Program – 25SUB4530_CP_JAVA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66227" y="3275236"/>
            <a:ext cx="6780319" cy="5749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223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HK Grotesk" pitchFamily="2" charset="77"/>
              </a:rPr>
              <a:t>Capstone Project Presentation – 9</a:t>
            </a:r>
            <a:r>
              <a:rPr lang="en-US" sz="2400" baseline="30000" dirty="0">
                <a:solidFill>
                  <a:srgbClr val="FFFFFF"/>
                </a:solidFill>
                <a:latin typeface="HK Grotesk" pitchFamily="2" charset="77"/>
              </a:rPr>
              <a:t>th</a:t>
            </a:r>
            <a:r>
              <a:rPr lang="en-US" sz="2400" dirty="0">
                <a:solidFill>
                  <a:srgbClr val="FFFFFF"/>
                </a:solidFill>
                <a:latin typeface="HK Grotesk" pitchFamily="2" charset="77"/>
              </a:rPr>
              <a:t> Feb &amp; 10</a:t>
            </a:r>
            <a:r>
              <a:rPr lang="en-US" sz="2400" baseline="30000" dirty="0">
                <a:solidFill>
                  <a:srgbClr val="FFFFFF"/>
                </a:solidFill>
                <a:latin typeface="HK Grotesk" pitchFamily="2" charset="77"/>
              </a:rPr>
              <a:t>th</a:t>
            </a:r>
            <a:r>
              <a:rPr lang="en-US" sz="2400" dirty="0">
                <a:solidFill>
                  <a:srgbClr val="FFFFFF"/>
                </a:solidFill>
                <a:latin typeface="HK Grotesk" pitchFamily="2" charset="77"/>
              </a:rPr>
              <a:t> Feb   2026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6226" y="6140450"/>
            <a:ext cx="4172935" cy="2216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867"/>
              </a:lnSpc>
              <a:spcBef>
                <a:spcPct val="0"/>
              </a:spcBef>
            </a:pPr>
            <a:r>
              <a:rPr lang="en-US" sz="1333" spc="133" dirty="0">
                <a:solidFill>
                  <a:srgbClr val="FFFFFF"/>
                </a:solidFill>
                <a:latin typeface="HK Grotesk Light Bold"/>
              </a:rPr>
              <a:t>www.rpsconsulting.in</a:t>
            </a: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ED66556B-B256-8D8D-E60E-0C5895B5FFA5}"/>
              </a:ext>
            </a:extLst>
          </p:cNvPr>
          <p:cNvSpPr txBox="1"/>
          <p:nvPr/>
        </p:nvSpPr>
        <p:spPr>
          <a:xfrm>
            <a:off x="366225" y="5061410"/>
            <a:ext cx="9819993" cy="2928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223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HK Grotesk" pitchFamily="2" charset="77"/>
              </a:rPr>
              <a:t>Presented by – Chintan Akalu , Deekshith D R – Team 4</a:t>
            </a:r>
          </a:p>
        </p:txBody>
      </p:sp>
      <p:sp>
        <p:nvSpPr>
          <p:cNvPr id="3" name="TextBox 7">
            <a:extLst>
              <a:ext uri="{FF2B5EF4-FFF2-40B4-BE49-F238E27FC236}">
                <a16:creationId xmlns:a16="http://schemas.microsoft.com/office/drawing/2014/main" id="{21F87AA7-2FEF-9248-CC8B-6951622F8F14}"/>
              </a:ext>
            </a:extLst>
          </p:cNvPr>
          <p:cNvSpPr txBox="1"/>
          <p:nvPr/>
        </p:nvSpPr>
        <p:spPr>
          <a:xfrm>
            <a:off x="366227" y="4136906"/>
            <a:ext cx="6780319" cy="2928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223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HK Grotesk" pitchFamily="2" charset="77"/>
              </a:rPr>
              <a:t>Project Title Here – Employment Management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7AE17-255B-EFAF-AB19-35D5726D4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FE3526C0-0D62-E999-846D-539DB0F96A06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Employee Management System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CE32E4E7-27A9-CE4B-8AB0-AA5E86AA8E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3222EB71-F821-F852-BAE8-F9C461EA6C98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6264C8-542D-6BAC-F31C-291E314EA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2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834CDC-2435-88E7-E908-66FF8BBA8773}"/>
              </a:ext>
            </a:extLst>
          </p:cNvPr>
          <p:cNvSpPr txBox="1"/>
          <p:nvPr/>
        </p:nvSpPr>
        <p:spPr>
          <a:xfrm>
            <a:off x="273074" y="1354574"/>
            <a:ext cx="11080725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Introduction 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The Employee Management System is a web-based application developed to manage employee information in an efficient, secure, and structured manner.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It replaces traditional manual record-keeping systems with a centralized digital platform, enabling HR managers and administrators to perform employee-related operations easily.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The system is built using Angular for the frontend, Spring Boot for the backend, and a relational database for data storage. It follows a RESTful API-based architecture and is containerized using Docker for scalable deployment on Microsoft Azure.</a:t>
            </a:r>
          </a:p>
        </p:txBody>
      </p:sp>
    </p:spTree>
    <p:extLst>
      <p:ext uri="{BB962C8B-B14F-4D97-AF65-F5344CB8AC3E}">
        <p14:creationId xmlns:p14="http://schemas.microsoft.com/office/powerpoint/2010/main" val="40510221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D3032-B556-A91A-981E-8250A33CE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862E1825-6333-41D5-E771-CF08492BD77E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Employee Management System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8D7400C0-485A-874F-6D5D-115D01E828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F34A314C-6C61-4D84-1B85-2D54121D8D92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47CB2D-20DA-B466-107D-17102AE1F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3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B992C1-F4CE-9AC8-B9C3-CA40A6B2E3A6}"/>
              </a:ext>
            </a:extLst>
          </p:cNvPr>
          <p:cNvSpPr txBox="1"/>
          <p:nvPr/>
        </p:nvSpPr>
        <p:spPr>
          <a:xfrm>
            <a:off x="273074" y="1354574"/>
            <a:ext cx="11080725" cy="4678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Problem Statement 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In many organizations, employee records are still managed using spreadsheets or manual registers, which leads to: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Data redundancy and inconsistency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Difficulty in searching employee information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Higher chances of human errors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Lack of centralized access and security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Time-consuming update and maintenance processes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There is a need for a robust, secure, and scalable system that allows efficient management of employee records with minimal manual effort.</a:t>
            </a:r>
          </a:p>
        </p:txBody>
      </p:sp>
    </p:spTree>
    <p:extLst>
      <p:ext uri="{BB962C8B-B14F-4D97-AF65-F5344CB8AC3E}">
        <p14:creationId xmlns:p14="http://schemas.microsoft.com/office/powerpoint/2010/main" val="42142483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BEB73-466C-0D03-3CC4-644E6AC1F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DCF2EE09-856A-C061-DE90-4CA50D407FAC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Employee Management System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6A82B561-06E1-43F3-D7E6-06784041A2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555E6433-F75B-30FC-924C-40851BFBD088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132FA7-E604-83BC-6BA4-AA2E14FF1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4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56EEE1-E46D-B711-3451-D61CCEA2433F}"/>
              </a:ext>
            </a:extLst>
          </p:cNvPr>
          <p:cNvSpPr txBox="1"/>
          <p:nvPr/>
        </p:nvSpPr>
        <p:spPr>
          <a:xfrm>
            <a:off x="273074" y="1354574"/>
            <a:ext cx="11080725" cy="36625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Objectives: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The key objectives of the Employee Management System are: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To maintain employee records in a centralized database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To reduce manual data handling errors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To provide quick search and update functionality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To ensure data accuracy and validation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To implement a scalable and maintainable architecture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To provide a user-friendly and responsive interface</a:t>
            </a:r>
          </a:p>
        </p:txBody>
      </p:sp>
    </p:spTree>
    <p:extLst>
      <p:ext uri="{BB962C8B-B14F-4D97-AF65-F5344CB8AC3E}">
        <p14:creationId xmlns:p14="http://schemas.microsoft.com/office/powerpoint/2010/main" val="23584345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BAA7F-E173-669B-1B0C-F636A8E01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F346FCAD-33FF-4924-74CE-0C74F391DDC9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Employee Management System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3C1B8075-AFE0-BCA2-8C45-33660646F9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790169E1-533F-8E81-8199-8D7ADDBB08DC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2425B0-9D6D-8BAB-21F9-D2B1C7459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5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3B3C11-CBFB-623A-828B-B87BD2B672C2}"/>
              </a:ext>
            </a:extLst>
          </p:cNvPr>
          <p:cNvSpPr txBox="1"/>
          <p:nvPr/>
        </p:nvSpPr>
        <p:spPr>
          <a:xfrm>
            <a:off x="273074" y="1354574"/>
            <a:ext cx="11080725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Core Functionalities: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The system provides the following core functionalities: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Add new employee records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View employee details in a tabular format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Update existing employee information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Delete employee records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Search employees by name or department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Input validation on both frontend and backend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Global exception handling for error scenarios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All operations are performed using RESTful APIs, ensuring loose coupling between frontend and backend.</a:t>
            </a:r>
          </a:p>
        </p:txBody>
      </p:sp>
    </p:spTree>
    <p:extLst>
      <p:ext uri="{BB962C8B-B14F-4D97-AF65-F5344CB8AC3E}">
        <p14:creationId xmlns:p14="http://schemas.microsoft.com/office/powerpoint/2010/main" val="12856672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CD5A3-6818-183B-2089-8F4057B79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86C85CE4-B3F5-9AE1-7705-F1610DE645F7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Employee Management System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76EC1D6E-C60D-2D2C-7489-A69FFA3304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EFDFC1CD-B055-B171-9A0E-C8CFDBEC0F48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D056FD-2A83-4DFC-3474-0E0703AA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6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3301B7-1D76-79F2-6395-99A9D3BDE511}"/>
              </a:ext>
            </a:extLst>
          </p:cNvPr>
          <p:cNvSpPr txBox="1"/>
          <p:nvPr/>
        </p:nvSpPr>
        <p:spPr>
          <a:xfrm>
            <a:off x="273074" y="1354574"/>
            <a:ext cx="11080725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Key Features: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User-Friendly Interface using Angular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Reactive Forms with proper validation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RESTful APIs for CRUD operations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Global Exception Handling in backend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Search and Filter functionality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Secure database interaction using Spring Data JPA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Scalable deployment using Docker and Azure</a:t>
            </a:r>
          </a:p>
        </p:txBody>
      </p:sp>
    </p:spTree>
    <p:extLst>
      <p:ext uri="{BB962C8B-B14F-4D97-AF65-F5344CB8AC3E}">
        <p14:creationId xmlns:p14="http://schemas.microsoft.com/office/powerpoint/2010/main" val="41362342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1409B-E357-D8E7-041A-93EA5E76D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94EBEF1C-BC52-3A23-1FC0-3A96C9458CAC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Employee Management System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D1020D05-0C19-8225-3590-4CE5E32D0E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2AB15DF5-9C21-2121-A6AC-3C66A205D465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DFE191-6A71-466C-E4CA-411704FAB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7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BEB9DB-0A13-2385-7C75-187943915796}"/>
              </a:ext>
            </a:extLst>
          </p:cNvPr>
          <p:cNvSpPr txBox="1"/>
          <p:nvPr/>
        </p:nvSpPr>
        <p:spPr>
          <a:xfrm>
            <a:off x="273075" y="971116"/>
            <a:ext cx="11080725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RESTful API-Based Architecture: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The project follows a RESTful API architecture, where: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Each operation is mapped to an HTTP method: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POST → Add Employee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GET → View Employee(s)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PUT → Update Employee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DELETE → Delete Employee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APIs return JSON responses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Stateless communication is maintained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Clear separation between frontend and backend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This architecture improves scalability, maintainability, and reusability of the application.</a:t>
            </a:r>
          </a:p>
        </p:txBody>
      </p:sp>
    </p:spTree>
    <p:extLst>
      <p:ext uri="{BB962C8B-B14F-4D97-AF65-F5344CB8AC3E}">
        <p14:creationId xmlns:p14="http://schemas.microsoft.com/office/powerpoint/2010/main" val="14923786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776DE-CB1D-471D-7636-A08116EF5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A93747DE-CC26-2DC4-057D-78171454B9C3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Employee Management System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DACCAF1A-446D-56BD-D5BA-50A5B5DC4B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BA1D7C51-C6BA-A8FB-40A6-99483D811B96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5D762D-29A7-9B88-E096-3A314365B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8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669AB0-01B7-BCB2-BE1C-6077C34B14D3}"/>
              </a:ext>
            </a:extLst>
          </p:cNvPr>
          <p:cNvSpPr txBox="1"/>
          <p:nvPr/>
        </p:nvSpPr>
        <p:spPr>
          <a:xfrm>
            <a:off x="273075" y="971116"/>
            <a:ext cx="11080725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Technology Stack: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1.</a:t>
            </a:r>
            <a:r>
              <a:rPr lang="en-US" sz="2200" u="sng" dirty="0">
                <a:solidFill>
                  <a:srgbClr val="0187CC"/>
                </a:solidFill>
                <a:latin typeface="HK Grotesk"/>
              </a:rPr>
              <a:t>Frontend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Angular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TypeScript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HTML, CSS, Bootstrap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2.</a:t>
            </a:r>
            <a:r>
              <a:rPr lang="en-US" sz="2200" u="sng" dirty="0">
                <a:solidFill>
                  <a:srgbClr val="0187CC"/>
                </a:solidFill>
                <a:latin typeface="HK Grotesk"/>
              </a:rPr>
              <a:t>Backend  </a:t>
            </a:r>
            <a:r>
              <a:rPr lang="en-US" sz="2200" dirty="0">
                <a:solidFill>
                  <a:srgbClr val="0187CC"/>
                </a:solidFill>
                <a:latin typeface="HK Grotesk"/>
              </a:rPr>
              <a:t>                                                                               4. </a:t>
            </a:r>
            <a:r>
              <a:rPr lang="en-US" sz="2200" u="sng" dirty="0">
                <a:solidFill>
                  <a:srgbClr val="0187CC"/>
                </a:solidFill>
                <a:latin typeface="HK Grotesk"/>
              </a:rPr>
              <a:t>DevOps &amp; Deployment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Spring Boot                                                                          - Docker (Containerization)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Spring Data JPA                                                                   - Microsoft Azure App Service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REST APIs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3.</a:t>
            </a:r>
            <a:r>
              <a:rPr lang="en-US" sz="2200" u="sng" dirty="0">
                <a:solidFill>
                  <a:srgbClr val="0187CC"/>
                </a:solidFill>
                <a:latin typeface="HK Grotesk"/>
              </a:rPr>
              <a:t>Database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H2 / PostgreSQL</a:t>
            </a:r>
          </a:p>
        </p:txBody>
      </p:sp>
    </p:spTree>
    <p:extLst>
      <p:ext uri="{BB962C8B-B14F-4D97-AF65-F5344CB8AC3E}">
        <p14:creationId xmlns:p14="http://schemas.microsoft.com/office/powerpoint/2010/main" val="10011919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59DC2-CEB1-4C9E-E6BD-E2EB04BDB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D792C2B5-0E1E-395F-4878-1FFD5B3F8BA3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Employee Management System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E28A7DE0-EE2B-EE6C-AB9B-E7957A1AD1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BAC7DAD6-6BD0-3C2F-DE03-F23A448BAE95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384713-09BB-6412-BA30-85445FC37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9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BA4F68-A995-6CA7-7245-10CA9773B873}"/>
              </a:ext>
            </a:extLst>
          </p:cNvPr>
          <p:cNvSpPr txBox="1"/>
          <p:nvPr/>
        </p:nvSpPr>
        <p:spPr>
          <a:xfrm>
            <a:off x="273075" y="971116"/>
            <a:ext cx="11080725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User Interface: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The Angular frontend provides: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Dashboard with navigation menu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Add Employee form with validations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Employee List view in tabular format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View Employee details page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Update Employee form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Search by name or department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The UI updates in real time when employees are added, updated, or deleted, providing a smooth and responsive user experience.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</p:spTree>
    <p:extLst>
      <p:ext uri="{BB962C8B-B14F-4D97-AF65-F5344CB8AC3E}">
        <p14:creationId xmlns:p14="http://schemas.microsoft.com/office/powerpoint/2010/main" val="40897777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64F4D-0666-C176-77D8-7F9EA410D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7AFA3F4A-4940-8883-C3DE-E962C7607143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Employee Management System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F535D18E-0571-6D6F-AD92-6DA0140123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8BD49C45-B6C3-570B-505A-D514AD678A16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762D2D-C9FE-2F56-10BE-22D5A19D1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10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5AC121-0906-10C3-B7B9-9E98193802F5}"/>
              </a:ext>
            </a:extLst>
          </p:cNvPr>
          <p:cNvSpPr txBox="1"/>
          <p:nvPr/>
        </p:nvSpPr>
        <p:spPr>
          <a:xfrm>
            <a:off x="273075" y="971116"/>
            <a:ext cx="11080725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Application Workflow: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User opens the application: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User logs in as HR/Admin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User navigates to Add Employee page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User enters employee details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Form validation occurs on frontend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Data is sent to backend REST API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Backend validates and processes request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Data is stored in the database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Employee list is refreshed automatically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User can view, update, or delete employee records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This ensures efficient and real-time employee management.</a:t>
            </a:r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</p:spTree>
    <p:extLst>
      <p:ext uri="{BB962C8B-B14F-4D97-AF65-F5344CB8AC3E}">
        <p14:creationId xmlns:p14="http://schemas.microsoft.com/office/powerpoint/2010/main" val="29199868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707200-BC01-1039-9FB5-FFB92C6BD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7E5A152F-FB38-EC39-419D-4D654D47EF80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Employee Management System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59CB2A5F-E417-87FB-D5E6-E220EEB744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B2BF1671-0C5B-718A-AF4A-6E1B855BC469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552455-28C4-852F-E7C1-75813EB52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11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1CC3A1-1F98-6AE5-CC88-A4171EBDC2C6}"/>
              </a:ext>
            </a:extLst>
          </p:cNvPr>
          <p:cNvSpPr txBox="1"/>
          <p:nvPr/>
        </p:nvSpPr>
        <p:spPr>
          <a:xfrm>
            <a:off x="273075" y="971116"/>
            <a:ext cx="11080725" cy="4678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DevOps &amp; Deployment: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Docker: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Containerizes frontend and backend applications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Ensures consistent environment across development and production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Simplifies deployment process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r>
              <a:rPr lang="en-US" sz="2200" dirty="0">
                <a:solidFill>
                  <a:srgbClr val="0187CC"/>
                </a:solidFill>
                <a:latin typeface="HK Grotesk"/>
              </a:rPr>
              <a:t>Azure: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Hosts backend Spring Boot APIs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Hosts Angular frontend application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Supports scalability and cloud deployment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Enables easy application management.</a:t>
            </a:r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</p:spTree>
    <p:extLst>
      <p:ext uri="{BB962C8B-B14F-4D97-AF65-F5344CB8AC3E}">
        <p14:creationId xmlns:p14="http://schemas.microsoft.com/office/powerpoint/2010/main" val="14978448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E59EA-CCB2-D10E-E3C4-5EE6218B4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4B0D9338-E563-D734-BA68-10F7DE741392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Employee Management System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34364A16-3039-8C5C-BBAC-FB980655C0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C866D4EC-E46B-1D60-D149-78181F987FA0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F43DA5-EBD8-2106-7F2E-6A439190F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12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752309-D18E-8E9F-6617-6D6071E9FCAE}"/>
              </a:ext>
            </a:extLst>
          </p:cNvPr>
          <p:cNvSpPr txBox="1"/>
          <p:nvPr/>
        </p:nvSpPr>
        <p:spPr>
          <a:xfrm>
            <a:off x="273075" y="971116"/>
            <a:ext cx="11080725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Login Page: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B55C00-A61B-C804-58A4-923B9BAEF1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049" y="1445049"/>
            <a:ext cx="10764751" cy="4942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78074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EE4B4-F532-7F8E-7789-7F1546BF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5A117026-AAA9-1E0B-7056-D18757643215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Employee Management System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578DA475-427A-C761-09D6-A640F5D1E4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5A1D76AA-8A88-8BF4-4C5B-BF6261860E0C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583DCF-87C7-3D9B-E051-3EF7AE46C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13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74F16F-600B-DADF-B1A8-B29E3161E98B}"/>
              </a:ext>
            </a:extLst>
          </p:cNvPr>
          <p:cNvSpPr txBox="1"/>
          <p:nvPr/>
        </p:nvSpPr>
        <p:spPr>
          <a:xfrm>
            <a:off x="273075" y="971116"/>
            <a:ext cx="11080725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Adding Employee Page: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5E61F51-30C1-7AF1-527E-B0FD4DE3B4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513" y="1473439"/>
            <a:ext cx="11072137" cy="4862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6135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D32BA-5E2E-3134-5204-334F9EDF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C394D6EA-9B37-1A44-08DE-3E6E3B35A628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Employee Management System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0FA951A9-9704-8305-6918-DDE4A762E7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EE46AD82-A14A-B0F5-B12B-5DCA1F54F0FA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B03594-00EF-A49B-3AB7-F9B16D50F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14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3EFA11-6653-32F2-B5D2-E21BF32AF6AA}"/>
              </a:ext>
            </a:extLst>
          </p:cNvPr>
          <p:cNvSpPr txBox="1"/>
          <p:nvPr/>
        </p:nvSpPr>
        <p:spPr>
          <a:xfrm>
            <a:off x="273075" y="971116"/>
            <a:ext cx="11080725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Employee List Page: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47CF187-147C-C1FA-BE41-8EBC2A7081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513" y="1475490"/>
            <a:ext cx="11145267" cy="4943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0520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DD326-8AFA-4384-1ACB-72FF5B02F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0CE1C5F0-F5A6-5F5E-AC98-006B580BA4D9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Employee Management System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7B3B721F-3472-7EEE-4D38-0799BE9F16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EBE1FAC8-6868-1832-4B30-932746B81015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930655-2849-72CA-19D4-59FE0D536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15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FFF9F4-3495-D8EF-06EF-7EB6E4D0158C}"/>
              </a:ext>
            </a:extLst>
          </p:cNvPr>
          <p:cNvSpPr txBox="1"/>
          <p:nvPr/>
        </p:nvSpPr>
        <p:spPr>
          <a:xfrm>
            <a:off x="273075" y="971116"/>
            <a:ext cx="11080725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Employee View(By Name or Email id) Page: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7924609-DABC-A527-3A97-AB5E1407F2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513" y="1435273"/>
            <a:ext cx="11149781" cy="4983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7584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46E46-57A6-6389-5399-43719D681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F9D72E01-0CB1-B88D-46E0-3C908C7712C4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Employee Management System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0AA29F7C-04ED-4928-8EB4-7385BA93F1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FC5995BD-5E21-78EC-F01B-3513F52ABB86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0F5A50-EE1B-089A-B26E-BE441A7CD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16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4EC1BA-199F-3057-3CC8-15716CE96B3A}"/>
              </a:ext>
            </a:extLst>
          </p:cNvPr>
          <p:cNvSpPr txBox="1"/>
          <p:nvPr/>
        </p:nvSpPr>
        <p:spPr>
          <a:xfrm>
            <a:off x="273075" y="971116"/>
            <a:ext cx="11080725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Employee View(By Department) Page: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229BD4-9016-6793-C160-0A79A71229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645" y="1431518"/>
            <a:ext cx="11130709" cy="4966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370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3E72F-BF5B-EA35-CDBC-6A593ACB7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E84C70AC-8DAA-5E0E-01B0-CAF0880B023D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Employee Management System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2C0B048D-AACC-9A86-A0CB-88E0320E94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8B78F23A-BDCD-4927-BA07-A09CC45F7C2E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0D43AC-5304-8111-E5AB-C79DA5ACA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17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762297-33D2-AFC0-CC19-E38BF14C9637}"/>
              </a:ext>
            </a:extLst>
          </p:cNvPr>
          <p:cNvSpPr txBox="1"/>
          <p:nvPr/>
        </p:nvSpPr>
        <p:spPr>
          <a:xfrm>
            <a:off x="273075" y="971116"/>
            <a:ext cx="11080725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Employee Update Page: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8D8EC5D-1907-AD2B-6A2B-4D0BBE76B9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305" y="1439777"/>
            <a:ext cx="11001389" cy="4895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3522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DDBA2-BA5B-4EF9-84D8-F3C838EC3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A5D7C86B-736F-9385-393D-DE6D541195B8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Employee Management System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68BAA935-74B3-FAA2-25C2-04E1EC7845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582904E0-2A94-8BD3-38CA-4D3D525E96E8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26CCB6-73B7-5C9A-D4C3-6F405E194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18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AC4856-18FC-67A8-C581-4D8FA5326B03}"/>
              </a:ext>
            </a:extLst>
          </p:cNvPr>
          <p:cNvSpPr txBox="1"/>
          <p:nvPr/>
        </p:nvSpPr>
        <p:spPr>
          <a:xfrm>
            <a:off x="273075" y="971116"/>
            <a:ext cx="11080725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Employee Data in DB 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248CF3B-6EFD-D9D8-AE6D-8FAF70EC39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9535" y="1442648"/>
            <a:ext cx="9379973" cy="4975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5412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AF436-880C-EBE4-B39D-279B1D8CF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EA71C559-BAE3-A468-519E-0E416014B9C5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Employee Management System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5A6F550E-FA42-D8AA-7214-7D9525CE18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15B39310-C8F0-DEBC-636E-DF9502886922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6CF406-818D-C093-770E-CFF4F1E38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19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C4F659-A06B-5DE4-8914-04C31873E094}"/>
              </a:ext>
            </a:extLst>
          </p:cNvPr>
          <p:cNvSpPr txBox="1"/>
          <p:nvPr/>
        </p:nvSpPr>
        <p:spPr>
          <a:xfrm>
            <a:off x="273075" y="971116"/>
            <a:ext cx="11080725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Container running in Docker 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244A12-F78B-F941-1B60-60F7A44ADC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280" y="1396397"/>
            <a:ext cx="9452360" cy="5022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03793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E2483-3815-3604-18BE-5664A5900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45586F2F-D5FC-F506-D2C3-9AFE186521E1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Employee Management System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8E1D9CE5-91FB-E418-FFC2-5522F5904E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E9E5E17B-99A8-30BD-2BF5-2AD802C8199D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198E4D-5C57-A6EF-0A14-D1B90BE4C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20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215533-A281-6791-9398-7C99C676A8E1}"/>
              </a:ext>
            </a:extLst>
          </p:cNvPr>
          <p:cNvSpPr txBox="1"/>
          <p:nvPr/>
        </p:nvSpPr>
        <p:spPr>
          <a:xfrm>
            <a:off x="273075" y="971116"/>
            <a:ext cx="11080725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Images created in Docker 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E3CDD50-55D1-6BF3-DC30-D31372940C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821" y="1418910"/>
            <a:ext cx="9424720" cy="4999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09301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16862-9452-F8CB-D79E-F3D200842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6AB81E75-B7DA-A719-D5E8-BB989B123E49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Employee Management System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CC16EDBA-0B80-E61A-D292-F345C83115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65BAD11B-E359-BC0C-56A0-83675D9A8577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BA581E-EA16-E3D1-245F-BD9DCF1A9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21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C82C6D-1E31-12A5-0632-62DD699A41B4}"/>
              </a:ext>
            </a:extLst>
          </p:cNvPr>
          <p:cNvSpPr txBox="1"/>
          <p:nvPr/>
        </p:nvSpPr>
        <p:spPr>
          <a:xfrm>
            <a:off x="273075" y="971116"/>
            <a:ext cx="11080725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3 images running inside container in Docker 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494B52E-B9DA-8845-A0EB-2C969C69B3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96" y="1379160"/>
            <a:ext cx="9497961" cy="5018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12885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AFE7D-C768-CDDE-19CD-3ADB03E6C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76081F14-C7BC-9A52-2A85-ED4943AE69FC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Employee Management System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24372B1C-1665-040F-E632-B15027241B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0C81609B-9C47-89AD-7825-CFC5A6282928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F08F1C-D97B-AE64-2058-479919EBF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22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4C4354-1B1E-2625-163A-F8750E2EBE57}"/>
              </a:ext>
            </a:extLst>
          </p:cNvPr>
          <p:cNvSpPr txBox="1"/>
          <p:nvPr/>
        </p:nvSpPr>
        <p:spPr>
          <a:xfrm>
            <a:off x="273075" y="971116"/>
            <a:ext cx="11080725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Created </a:t>
            </a:r>
            <a:r>
              <a:rPr lang="en-US" sz="2800" dirty="0" err="1">
                <a:solidFill>
                  <a:srgbClr val="0187CC"/>
                </a:solidFill>
                <a:latin typeface="HK Grotesk"/>
              </a:rPr>
              <a:t>Appservice</a:t>
            </a:r>
            <a:r>
              <a:rPr lang="en-US" sz="2800" dirty="0">
                <a:solidFill>
                  <a:srgbClr val="0187CC"/>
                </a:solidFill>
                <a:latin typeface="HK Grotesk"/>
              </a:rPr>
              <a:t> in Azure: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55ADB1-284C-D3C2-4F3B-C6A28E1B1F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490918"/>
            <a:ext cx="10631307" cy="4803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44982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01FE0-A4AA-AD61-BBA7-55F532AF3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BFA5B907-0BBD-DE0C-3BF8-6F637AFBB7BF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Employee Management System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61BBFAB4-582A-B4F5-B24E-F2130FC87B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EDAE4216-C5ED-D532-E887-737152949DC2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397F6D-43E3-DA9B-8377-6741AD35F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23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35C22A-7A21-FCCC-0834-8C2A4B3A95E0}"/>
              </a:ext>
            </a:extLst>
          </p:cNvPr>
          <p:cNvSpPr txBox="1"/>
          <p:nvPr/>
        </p:nvSpPr>
        <p:spPr>
          <a:xfrm>
            <a:off x="273075" y="971116"/>
            <a:ext cx="11080725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Created Database and connected through Azure: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8F8CE0-66A4-29DF-3320-EAB37690F7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593" y="1578118"/>
            <a:ext cx="10274884" cy="4543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65949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EFF38-0C91-EF33-6937-02D2FA12E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54F707A9-77DC-DE9B-B937-22351ED74C22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Employee Management System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6A6320F3-F499-461D-EEE8-1DA4ADB315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8FA03FBA-0B9F-A68D-6383-E06C83ED439A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52FA71-F80E-308E-615E-47E037E70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24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4C0499-82D6-C62D-D428-01CE67BAC070}"/>
              </a:ext>
            </a:extLst>
          </p:cNvPr>
          <p:cNvSpPr txBox="1"/>
          <p:nvPr/>
        </p:nvSpPr>
        <p:spPr>
          <a:xfrm>
            <a:off x="273075" y="971116"/>
            <a:ext cx="11080725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Project pushed into GitHub: </a:t>
            </a:r>
            <a:r>
              <a:rPr lang="en-US" dirty="0">
                <a:solidFill>
                  <a:srgbClr val="0187CC"/>
                </a:solidFill>
                <a:latin typeface="HK Grotesk"/>
              </a:rPr>
              <a:t>https://github.com/Deekshithdasa/EmployeeManagementSystem.git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DC43394-A194-61DF-A934-97858260A6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598" y="1471495"/>
            <a:ext cx="10569677" cy="4822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49656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B15022-694F-BFE2-13A0-0FCF482F4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155">
            <a:extLst>
              <a:ext uri="{FF2B5EF4-FFF2-40B4-BE49-F238E27FC236}">
                <a16:creationId xmlns:a16="http://schemas.microsoft.com/office/drawing/2014/main" id="{FB0FB813-F2EC-E75B-A22C-36F8EB098567}"/>
              </a:ext>
            </a:extLst>
          </p:cNvPr>
          <p:cNvSpPr/>
          <p:nvPr/>
        </p:nvSpPr>
        <p:spPr>
          <a:xfrm>
            <a:off x="273075" y="211475"/>
            <a:ext cx="10102565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>
              <a:spcBef>
                <a:spcPct val="0"/>
              </a:spcBef>
            </a:pPr>
            <a:r>
              <a:rPr lang="en-US" sz="3200" b="1" dirty="0">
                <a:solidFill>
                  <a:srgbClr val="0187CC"/>
                </a:solidFill>
                <a:latin typeface="HK Grotesk Bold"/>
              </a:rPr>
              <a:t>Employee Management System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9D8BC4B7-1901-1333-68DC-537DD6CE3F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30" y="6397884"/>
            <a:ext cx="645766" cy="422937"/>
          </a:xfrm>
          <a:prstGeom prst="rect">
            <a:avLst/>
          </a:prstGeom>
        </p:spPr>
      </p:pic>
      <p:sp>
        <p:nvSpPr>
          <p:cNvPr id="3" name="TextBox 5">
            <a:extLst>
              <a:ext uri="{FF2B5EF4-FFF2-40B4-BE49-F238E27FC236}">
                <a16:creationId xmlns:a16="http://schemas.microsoft.com/office/drawing/2014/main" id="{6308F7AB-DCDF-A51D-E9BE-9FC906BD2901}"/>
              </a:ext>
            </a:extLst>
          </p:cNvPr>
          <p:cNvSpPr txBox="1"/>
          <p:nvPr/>
        </p:nvSpPr>
        <p:spPr>
          <a:xfrm>
            <a:off x="4424757" y="6418579"/>
            <a:ext cx="625940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0"/>
              </a:lnSpc>
              <a:spcBef>
                <a:spcPct val="0"/>
              </a:spcBef>
            </a:pPr>
            <a:r>
              <a:rPr lang="en-US" sz="1400" spc="140" dirty="0">
                <a:solidFill>
                  <a:srgbClr val="000000"/>
                </a:solidFill>
                <a:latin typeface="HK Grotesk Light"/>
              </a:rPr>
              <a:t>2024 - RPS Consulting all rights reserved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2D545A-F57B-E26C-9D5A-50469152F7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F35010-364B-470B-BB6C-DCBBE63D2E54}" type="slidenum">
              <a:rPr lang="en-US" smtClean="0">
                <a:solidFill>
                  <a:schemeClr val="tx1"/>
                </a:solidFill>
              </a:rPr>
              <a:t>25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84E45A-9345-7969-C5B3-41CA16693DE0}"/>
              </a:ext>
            </a:extLst>
          </p:cNvPr>
          <p:cNvSpPr txBox="1"/>
          <p:nvPr/>
        </p:nvSpPr>
        <p:spPr>
          <a:xfrm>
            <a:off x="273075" y="971116"/>
            <a:ext cx="11080725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solidFill>
                  <a:srgbClr val="0187CC"/>
                </a:solidFill>
                <a:latin typeface="HK Grotesk"/>
              </a:rPr>
              <a:t>Conclusion:</a:t>
            </a:r>
          </a:p>
          <a:p>
            <a:endParaRPr lang="en-US" sz="28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The Employee Management System provides an efficient way to manage employee records digitally.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It supports CRUD operations with secure and validated data handling.</a:t>
            </a:r>
          </a:p>
          <a:p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Angular delivers a responsive and interactive user interface.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Spring Boot with RESTful APIs handles backend business logic efficiently.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The database ensures reliable data storage and quick retrieval.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dirty="0">
              <a:solidFill>
                <a:srgbClr val="0187CC"/>
              </a:solidFill>
              <a:latin typeface="HK Grotesk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187CC"/>
                </a:solidFill>
                <a:latin typeface="HK Grotesk"/>
              </a:rPr>
              <a:t>Deployment on Docker and Microsoft Azure enables scalability, reliability, and cloud readiness.</a:t>
            </a:r>
          </a:p>
        </p:txBody>
      </p:sp>
    </p:spTree>
    <p:extLst>
      <p:ext uri="{BB962C8B-B14F-4D97-AF65-F5344CB8AC3E}">
        <p14:creationId xmlns:p14="http://schemas.microsoft.com/office/powerpoint/2010/main" val="42945253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3113</TotalTime>
  <Words>1067</Words>
  <Application>Microsoft Office PowerPoint</Application>
  <PresentationFormat>Widescreen</PresentationFormat>
  <Paragraphs>219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4" baseType="lpstr">
      <vt:lpstr>Aptos</vt:lpstr>
      <vt:lpstr>Aptos Display</vt:lpstr>
      <vt:lpstr>Arial</vt:lpstr>
      <vt:lpstr>Calibri</vt:lpstr>
      <vt:lpstr>HK Grotesk</vt:lpstr>
      <vt:lpstr>HK Grotesk Bold</vt:lpstr>
      <vt:lpstr>HK Grotesk Light</vt:lpstr>
      <vt:lpstr>HK Grotesk Light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Satish M</dc:creator>
  <cp:lastModifiedBy>Deekshith Dasa</cp:lastModifiedBy>
  <cp:revision>23</cp:revision>
  <dcterms:created xsi:type="dcterms:W3CDTF">2024-05-04T13:11:57Z</dcterms:created>
  <dcterms:modified xsi:type="dcterms:W3CDTF">2026-02-10T05:48:45Z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80f486e-1d0b-4fd6-a73f-04d94048a140_Enabled">
    <vt:lpwstr>true</vt:lpwstr>
  </property>
  <property fmtid="{D5CDD505-2E9C-101B-9397-08002B2CF9AE}" pid="3" name="MSIP_Label_e80f486e-1d0b-4fd6-a73f-04d94048a140_SetDate">
    <vt:lpwstr>2026-02-04T04:06:58Z</vt:lpwstr>
  </property>
  <property fmtid="{D5CDD505-2E9C-101B-9397-08002B2CF9AE}" pid="4" name="MSIP_Label_e80f486e-1d0b-4fd6-a73f-04d94048a140_Method">
    <vt:lpwstr>Standard</vt:lpwstr>
  </property>
  <property fmtid="{D5CDD505-2E9C-101B-9397-08002B2CF9AE}" pid="5" name="MSIP_Label_e80f486e-1d0b-4fd6-a73f-04d94048a140_Name">
    <vt:lpwstr>General - RPS Data</vt:lpwstr>
  </property>
  <property fmtid="{D5CDD505-2E9C-101B-9397-08002B2CF9AE}" pid="6" name="MSIP_Label_e80f486e-1d0b-4fd6-a73f-04d94048a140_SiteId">
    <vt:lpwstr>6565c732-1653-4ffe-b9d3-80a4f1c0c25d</vt:lpwstr>
  </property>
  <property fmtid="{D5CDD505-2E9C-101B-9397-08002B2CF9AE}" pid="7" name="MSIP_Label_e80f486e-1d0b-4fd6-a73f-04d94048a140_ActionId">
    <vt:lpwstr>0c3cc09a-e54e-4ae4-a9fa-efa3f9d629ce</vt:lpwstr>
  </property>
  <property fmtid="{D5CDD505-2E9C-101B-9397-08002B2CF9AE}" pid="8" name="MSIP_Label_e80f486e-1d0b-4fd6-a73f-04d94048a140_ContentBits">
    <vt:lpwstr>2</vt:lpwstr>
  </property>
  <property fmtid="{D5CDD505-2E9C-101B-9397-08002B2CF9AE}" pid="9" name="MSIP_Label_e80f486e-1d0b-4fd6-a73f-04d94048a140_Tag">
    <vt:lpwstr>10, 3, 0, 1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General - RPS Data</vt:lpwstr>
  </property>
</Properties>
</file>